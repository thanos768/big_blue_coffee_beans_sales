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58" r:id="rId5"/>
    <p:sldId id="259" r:id="rId6"/>
    <p:sldId id="263" r:id="rId7"/>
    <p:sldId id="262" r:id="rId8"/>
    <p:sldId id="261" r:id="rId9"/>
    <p:sldId id="267" r:id="rId10"/>
    <p:sldId id="268" r:id="rId11"/>
    <p:sldId id="270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31E82-B93A-4C7D-A8B2-AB6B9451026C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1EA7B-930C-4F7E-B7ED-26B4B275A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EA7B-930C-4F7E-B7ED-26B4B275A4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1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F032-E5DD-0A6E-4120-E737BFB47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DA286-A418-6E17-29C4-22F69CE21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593F0-C7D8-BE88-4BD2-10770346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232C-9F5F-3D04-18A9-7DEB18EF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4523-9EFE-BB53-DB2E-C1CCD174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9E5F-6294-0DE3-ABDA-C125F517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74889-8264-960E-AF29-605D5F499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433A6-0A25-A8F1-C09E-D88816F6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C59E4-3347-B1F5-DD68-A58CE4F9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9EA2A-7D98-E008-32C0-005EF934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64B3-293B-5E9B-93BE-7E302F309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2333-3256-7F04-C72F-2FB01E02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AE41-12E5-1801-1F74-935C2C3C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D771D-326C-0D55-E55D-2F18AFD6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46310-484B-C2D3-0950-E7015073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D87D-E021-8454-43C8-0A565D08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EFEC-3514-8BED-8CB9-9BD06D2D3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11F8B-B627-1D6D-13A3-7E0D3693B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54BB8-6595-3727-7465-EF1504D7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E1C3-6321-8573-B7D0-21729889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B8D8D-9149-64F3-DCE7-A60D970B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4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0D63-07AF-42B6-04CB-49B39A2D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6C9E4-D99C-094E-AF14-199540CD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8D18B-1862-7353-94B8-4A413D30E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080F2-6475-233F-1395-595866061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20108-3644-3F5E-445B-D4014F43B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0555A-3270-3A4B-8C88-405B5184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8D052-40A9-404A-A28C-7486743C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C5499-35E6-522C-1027-2A074401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E3A1-20B6-7993-0762-6F27F360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836EB-20A3-3023-F37C-CCE7299F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0564-B35E-C920-8DF0-BD8FF098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AAE74-C2F5-5226-52F9-8D0E2FA8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7038C-52DD-EF63-DC9C-2D600FD6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6C374-7AD1-B937-395E-D3E258AF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3D881-3778-3935-D0F4-A9C1F0FC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D11B-BBA8-8989-BD67-BC5B2E68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72B4-126C-49AE-8095-B89445EF6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C3FA1-9DF7-BD57-84C7-A6C171232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18119-C3B4-0498-BF74-62440D2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9F518-5A8E-B01B-31E4-47163497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89AA-2DE7-CA31-0B44-868FEA66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1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30B2-2A66-F5AF-961D-9FC05C15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728C9-9B47-8865-4A48-96E836EC3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30D7C-40A1-EFAE-346E-2DF6E1EDD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1B97A-10D2-4CA7-8188-FB5F7673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A225E-2686-412E-D313-C1B23518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86CA9-83A8-6A69-4D20-1DC18FA7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2AF8-E001-A948-A882-F7166B3A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8FF9-19E4-FB0D-9039-83B738DFC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9C77C-5994-55F3-8D04-6F198A72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E5176-CC26-085E-444E-88A038BB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B9AE5-16C0-81C1-A91E-B4D76BAE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9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D87C8-3E1D-8B96-EF49-7136FFD76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8C239-2691-4892-A6BA-5BD7F67C5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483E-7270-3D29-EE50-1024DB30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5AA30-EF18-424B-CA3B-07ACB156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5FAA-4210-AB15-C795-0933EE83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6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87F9E-295B-A2BA-EA67-D3B11C74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F66B7-543D-73CB-D43C-406340AC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0313-6D1F-4311-2862-7D8B0C01C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0D118-2687-4B6F-A50F-F65F5417F6FE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DB52A-2EB5-CDE0-8B53-AF42FF0F5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3216B-DB0B-5EED-1C92-CC2B99315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4093B-8419-4C10-8217-6BD394878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Picture 50" descr="Coffee beans falling">
            <a:extLst>
              <a:ext uri="{FF2B5EF4-FFF2-40B4-BE49-F238E27FC236}">
                <a16:creationId xmlns:a16="http://schemas.microsoft.com/office/drawing/2014/main" id="{C7CDFAAB-3270-3745-117B-9127DEB2A4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3049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426934-45B4-79CD-7927-B7B7238D0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286" y="-672959"/>
            <a:ext cx="7508753" cy="3299902"/>
          </a:xfrm>
        </p:spPr>
        <p:txBody>
          <a:bodyPr>
            <a:normAutofit/>
          </a:bodyPr>
          <a:lstStyle/>
          <a:p>
            <a:pPr algn="l"/>
            <a:r>
              <a:rPr lang="en-US" sz="8200" dirty="0">
                <a:solidFill>
                  <a:srgbClr val="FFFFFF"/>
                </a:solidFill>
              </a:rPr>
              <a:t>Coffee Beans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31364-F825-D689-C0CC-7FD5A94B7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By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Thanos Chronopoulos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Andreas Gabriel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Filippos Georgiopoulos</a:t>
            </a:r>
          </a:p>
        </p:txBody>
      </p:sp>
    </p:spTree>
    <p:extLst>
      <p:ext uri="{BB962C8B-B14F-4D97-AF65-F5344CB8AC3E}">
        <p14:creationId xmlns:p14="http://schemas.microsoft.com/office/powerpoint/2010/main" val="407151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Calculator, pen, compass, money and a paper with graphs printed on it">
            <a:extLst>
              <a:ext uri="{FF2B5EF4-FFF2-40B4-BE49-F238E27FC236}">
                <a16:creationId xmlns:a16="http://schemas.microsoft.com/office/drawing/2014/main" id="{3C81A8F8-8282-1839-9548-0C01EF0D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31" r="1036" b="909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27C5D8-0809-4AB5-C43A-1996BFDB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Country-Product Preference Correlation by Revenue</a:t>
            </a:r>
          </a:p>
          <a:p>
            <a:r>
              <a:rPr lang="en-US" sz="1800" dirty="0">
                <a:solidFill>
                  <a:schemeClr val="bg1"/>
                </a:solidFill>
              </a:rPr>
              <a:t>Total Customers, Revenue &amp; Sales Volume Summary per Coffee Type</a:t>
            </a:r>
          </a:p>
          <a:p>
            <a:r>
              <a:rPr lang="en-US" sz="1800" dirty="0">
                <a:solidFill>
                  <a:schemeClr val="bg1"/>
                </a:solidFill>
              </a:rPr>
              <a:t>Revenue Distribution by Month and Weekday across the years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2C8F3-1216-790C-D68C-7CE983819F09}"/>
              </a:ext>
            </a:extLst>
          </p:cNvPr>
          <p:cNvSpPr txBox="1"/>
          <p:nvPr/>
        </p:nvSpPr>
        <p:spPr>
          <a:xfrm>
            <a:off x="9021427" y="573300"/>
            <a:ext cx="2187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7428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t coffee and coffee beans on linen table">
            <a:extLst>
              <a:ext uri="{FF2B5EF4-FFF2-40B4-BE49-F238E27FC236}">
                <a16:creationId xmlns:a16="http://schemas.microsoft.com/office/drawing/2014/main" id="{B255BDC9-C061-87BC-4FDE-9B5E7C1A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8" r="-1" b="-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0430B-A5E6-A061-984B-FD64A6AE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290" y="916686"/>
            <a:ext cx="3438144" cy="1124712"/>
          </a:xfrm>
        </p:spPr>
        <p:txBody>
          <a:bodyPr anchor="b">
            <a:normAutofit fontScale="90000"/>
          </a:bodyPr>
          <a:lstStyle/>
          <a:p>
            <a:pPr fontAlgn="base"/>
            <a:r>
              <a:rPr lang="en-US" sz="2800" dirty="0">
                <a:solidFill>
                  <a:schemeClr val="bg1"/>
                </a:solidFill>
              </a:rPr>
              <a:t>Country-Product Preference Correlation by 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BB161-BE13-347E-4852-DC618C785EA1}"/>
              </a:ext>
            </a:extLst>
          </p:cNvPr>
          <p:cNvSpPr txBox="1"/>
          <p:nvPr/>
        </p:nvSpPr>
        <p:spPr>
          <a:xfrm>
            <a:off x="8343290" y="2693876"/>
            <a:ext cx="3218687" cy="20338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Revenue by email domain - Loyalty Card Comparison</a:t>
            </a:r>
          </a:p>
          <a:p>
            <a:br>
              <a:rPr lang="en-US" sz="2500" dirty="0"/>
            </a:b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3753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ie charts&#10;&#10;AI-generated content may be incorrect.">
            <a:extLst>
              <a:ext uri="{FF2B5EF4-FFF2-40B4-BE49-F238E27FC236}">
                <a16:creationId xmlns:a16="http://schemas.microsoft.com/office/drawing/2014/main" id="{A2A98185-104F-C632-681A-98A1CAF06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419"/>
            <a:ext cx="8243019" cy="58451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D04BD-F671-B560-6B7C-D7F0DA21B65C}"/>
              </a:ext>
            </a:extLst>
          </p:cNvPr>
          <p:cNvSpPr txBox="1"/>
          <p:nvPr/>
        </p:nvSpPr>
        <p:spPr>
          <a:xfrm>
            <a:off x="8394700" y="444500"/>
            <a:ext cx="36639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 err="1"/>
              <a:t>Liberica</a:t>
            </a:r>
            <a:r>
              <a:rPr lang="en-US" dirty="0"/>
              <a:t> is the highest-revenue coffee type across all three countries (United States, United Kingdom, and Ireland), consistently contributing the largest slice.</a:t>
            </a:r>
          </a:p>
        </p:txBody>
      </p:sp>
    </p:spTree>
    <p:extLst>
      <p:ext uri="{BB962C8B-B14F-4D97-AF65-F5344CB8AC3E}">
        <p14:creationId xmlns:p14="http://schemas.microsoft.com/office/powerpoint/2010/main" val="42146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E6D6-7825-0F8F-2F4A-8D7899A2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7A31E970-4F7E-4C3E-6A53-C87F605DA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024"/>
            <a:ext cx="9308081" cy="528995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BE3D37-AB26-7CF3-8964-082176D34C7D}"/>
              </a:ext>
            </a:extLst>
          </p:cNvPr>
          <p:cNvSpPr txBox="1"/>
          <p:nvPr/>
        </p:nvSpPr>
        <p:spPr>
          <a:xfrm>
            <a:off x="9377930" y="843677"/>
            <a:ext cx="27505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dirty="0"/>
              <a:t>For most high-revenue domains all or nearly all of the revenue comes from customers who </a:t>
            </a:r>
            <a:r>
              <a:rPr lang="en-US" b="1" dirty="0"/>
              <a:t>do not</a:t>
            </a:r>
            <a:r>
              <a:rPr lang="en-US" dirty="0"/>
              <a:t> have a Loyalty Card.</a:t>
            </a:r>
          </a:p>
        </p:txBody>
      </p:sp>
    </p:spTree>
    <p:extLst>
      <p:ext uri="{BB962C8B-B14F-4D97-AF65-F5344CB8AC3E}">
        <p14:creationId xmlns:p14="http://schemas.microsoft.com/office/powerpoint/2010/main" val="45132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572DC-783A-91AE-F2EB-ECC11161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DFCA2FCB-EBC3-F9DD-0C69-4DFA8396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t="909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983701-D88A-0F63-AB2F-8245151E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642" y="1028718"/>
            <a:ext cx="3430547" cy="1378458"/>
          </a:xfrm>
        </p:spPr>
        <p:txBody>
          <a:bodyPr anchor="b"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Total Customers, Revenue &amp; Sales Volume Summary per Coffee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63643-6BAF-AF47-FE1D-BA87E6473CB3}"/>
              </a:ext>
            </a:extLst>
          </p:cNvPr>
          <p:cNvSpPr txBox="1"/>
          <p:nvPr/>
        </p:nvSpPr>
        <p:spPr>
          <a:xfrm>
            <a:off x="8383642" y="2897272"/>
            <a:ext cx="32880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</a:rPr>
              <a:t>Year-Over-Year Coffee Revenue Performance per Country</a:t>
            </a:r>
          </a:p>
          <a:p>
            <a:endParaRPr lang="en-US" sz="2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39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FE91-5EF3-A57F-AA3C-F6184297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5797CE18-FD9C-997A-37C2-C72A21119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519"/>
            <a:ext cx="8225237" cy="462377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B4FF5-2FB3-7BD5-1238-41EF2A3D3972}"/>
              </a:ext>
            </a:extLst>
          </p:cNvPr>
          <p:cNvSpPr txBox="1"/>
          <p:nvPr/>
        </p:nvSpPr>
        <p:spPr>
          <a:xfrm>
            <a:off x="8108950" y="957977"/>
            <a:ext cx="37868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dirty="0"/>
              <a:t>Despite having the highest revenue, </a:t>
            </a:r>
            <a:r>
              <a:rPr lang="en-US" b="1" dirty="0"/>
              <a:t>Excelsa and </a:t>
            </a:r>
            <a:r>
              <a:rPr lang="en-US" b="1" dirty="0" err="1"/>
              <a:t>Liberica</a:t>
            </a:r>
            <a:r>
              <a:rPr lang="en-US" b="1" dirty="0"/>
              <a:t> do not have the highest Total Sold Quantity</a:t>
            </a:r>
            <a:r>
              <a:rPr lang="en-US" dirty="0"/>
              <a:t>; </a:t>
            </a:r>
            <a:r>
              <a:rPr lang="en-US" b="1" dirty="0"/>
              <a:t>Arabica and Robusta</a:t>
            </a:r>
            <a:r>
              <a:rPr lang="en-US" dirty="0"/>
              <a:t> have comparable or slightly higher sold quantities but generate significantly less revenue.</a:t>
            </a:r>
          </a:p>
          <a:p>
            <a:r>
              <a:rPr lang="en-US" dirty="0"/>
              <a:t>This makes it clear to see that </a:t>
            </a:r>
            <a:r>
              <a:rPr lang="en-US" b="1" dirty="0"/>
              <a:t>Excelsa and </a:t>
            </a:r>
            <a:r>
              <a:rPr lang="en-US" b="1" dirty="0" err="1"/>
              <a:t>Liberica</a:t>
            </a:r>
            <a:r>
              <a:rPr lang="en-US" b="1" dirty="0"/>
              <a:t> coffees command a higher price per unit</a:t>
            </a:r>
            <a:r>
              <a:rPr lang="en-US" dirty="0"/>
              <a:t> than Arabica and Robusta.</a:t>
            </a:r>
          </a:p>
        </p:txBody>
      </p:sp>
    </p:spTree>
    <p:extLst>
      <p:ext uri="{BB962C8B-B14F-4D97-AF65-F5344CB8AC3E}">
        <p14:creationId xmlns:p14="http://schemas.microsoft.com/office/powerpoint/2010/main" val="170930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8244-B571-B75C-451E-5DF1D82F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a graph showing the number of years&#10;&#10;AI-generated content may be incorrect.">
            <a:extLst>
              <a:ext uri="{FF2B5EF4-FFF2-40B4-BE49-F238E27FC236}">
                <a16:creationId xmlns:a16="http://schemas.microsoft.com/office/drawing/2014/main" id="{732A1E13-2A58-A9C4-0AEE-B7E2C926C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04574" cy="3352800"/>
          </a:xfrm>
        </p:spPr>
      </p:pic>
      <p:pic>
        <p:nvPicPr>
          <p:cNvPr id="8" name="Picture 7" descr="A graph of a graph with lines&#10;&#10;AI-generated content may be incorrect.">
            <a:extLst>
              <a:ext uri="{FF2B5EF4-FFF2-40B4-BE49-F238E27FC236}">
                <a16:creationId xmlns:a16="http://schemas.microsoft.com/office/drawing/2014/main" id="{F8FA5C03-7ECF-B586-A7F9-A5916C224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404574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EB7CC5-D163-45CB-2282-E32917424FBC}"/>
              </a:ext>
            </a:extLst>
          </p:cNvPr>
          <p:cNvSpPr txBox="1"/>
          <p:nvPr/>
        </p:nvSpPr>
        <p:spPr>
          <a:xfrm>
            <a:off x="6897981" y="1238250"/>
            <a:ext cx="45656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United States: </a:t>
            </a:r>
            <a:r>
              <a:rPr lang="en-US" dirty="0"/>
              <a:t>Revenue peaked in 2021 but then dropped significantly in 2022, with a ~50% year-over-year decline.</a:t>
            </a:r>
          </a:p>
          <a:p>
            <a:endParaRPr lang="en-US" dirty="0"/>
          </a:p>
          <a:p>
            <a:r>
              <a:rPr lang="en-US" b="1" dirty="0"/>
              <a:t>Ireland: </a:t>
            </a:r>
            <a:r>
              <a:rPr lang="en-US" dirty="0"/>
              <a:t>Revenue had modest growth until 2021 but fell noticeably in 2022 (~40% decrease).</a:t>
            </a:r>
          </a:p>
          <a:p>
            <a:endParaRPr lang="en-US" dirty="0"/>
          </a:p>
          <a:p>
            <a:r>
              <a:rPr lang="en-US" b="1" dirty="0"/>
              <a:t>United Kingdom: </a:t>
            </a:r>
            <a:r>
              <a:rPr lang="en-US" dirty="0"/>
              <a:t>Revenue was already declining since 2020 and fell dramatically in 2022 (~80% decrease).</a:t>
            </a:r>
          </a:p>
        </p:txBody>
      </p:sp>
    </p:spTree>
    <p:extLst>
      <p:ext uri="{BB962C8B-B14F-4D97-AF65-F5344CB8AC3E}">
        <p14:creationId xmlns:p14="http://schemas.microsoft.com/office/powerpoint/2010/main" val="143855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83AFE-2D46-0604-E891-4567DDF8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up of a dark coffee on a mug">
            <a:extLst>
              <a:ext uri="{FF2B5EF4-FFF2-40B4-BE49-F238E27FC236}">
                <a16:creationId xmlns:a16="http://schemas.microsoft.com/office/drawing/2014/main" id="{FC118A73-7C6D-78BE-ADA9-3A0B1654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0" r="-1" b="-1"/>
          <a:stretch>
            <a:fillRect/>
          </a:stretch>
        </p:blipFill>
        <p:spPr>
          <a:xfrm>
            <a:off x="0" y="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BF71-9973-82E6-B9C6-744688FC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589" y="1071997"/>
            <a:ext cx="3583661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Revenue Distribution by Month and Weekday across the years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20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72E339F-88ED-7FCB-656E-874B44633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5878"/>
            <a:ext cx="12192000" cy="48621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BDF7A-AF62-8FFD-DB6F-74FA8D1EB957}"/>
              </a:ext>
            </a:extLst>
          </p:cNvPr>
          <p:cNvSpPr txBox="1"/>
          <p:nvPr/>
        </p:nvSpPr>
        <p:spPr>
          <a:xfrm>
            <a:off x="533400" y="202254"/>
            <a:ext cx="8350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 Observed:</a:t>
            </a:r>
          </a:p>
          <a:p>
            <a:r>
              <a:rPr lang="en-US" dirty="0"/>
              <a:t>Revenue exhibits </a:t>
            </a:r>
            <a:r>
              <a:rPr lang="en-US" b="1" dirty="0"/>
              <a:t>strong seasonality</a:t>
            </a:r>
            <a:r>
              <a:rPr lang="en-US" dirty="0"/>
              <a:t> with peaks in mid-to-late year (July–October).</a:t>
            </a:r>
          </a:p>
        </p:txBody>
      </p:sp>
    </p:spTree>
    <p:extLst>
      <p:ext uri="{BB962C8B-B14F-4D97-AF65-F5344CB8AC3E}">
        <p14:creationId xmlns:p14="http://schemas.microsoft.com/office/powerpoint/2010/main" val="1424849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A830-6BD2-0A5B-4DE3-7831F079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BD103EE-1B97-B346-90B0-D1EDD0C9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289"/>
            <a:ext cx="12192000" cy="4952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EF373-F7DE-D60A-EF7F-3B7296B44DB2}"/>
              </a:ext>
            </a:extLst>
          </p:cNvPr>
          <p:cNvSpPr txBox="1"/>
          <p:nvPr/>
        </p:nvSpPr>
        <p:spPr>
          <a:xfrm>
            <a:off x="533400" y="202254"/>
            <a:ext cx="11467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 Observed:</a:t>
            </a:r>
          </a:p>
          <a:p>
            <a:r>
              <a:rPr lang="en-US" dirty="0"/>
              <a:t>Revenue is </a:t>
            </a:r>
            <a:r>
              <a:rPr lang="en-US" b="1" dirty="0"/>
              <a:t>strongly weekend-driven</a:t>
            </a:r>
            <a:r>
              <a:rPr lang="en-US" dirty="0"/>
              <a:t>, peaking on </a:t>
            </a:r>
            <a:r>
              <a:rPr lang="en-US" b="1" dirty="0"/>
              <a:t>Saturdays and Sundays</a:t>
            </a:r>
            <a:r>
              <a:rPr lang="en-US" dirty="0"/>
              <a:t>, with 2021 as the best performing year. </a:t>
            </a:r>
          </a:p>
        </p:txBody>
      </p:sp>
    </p:spTree>
    <p:extLst>
      <p:ext uri="{BB962C8B-B14F-4D97-AF65-F5344CB8AC3E}">
        <p14:creationId xmlns:p14="http://schemas.microsoft.com/office/powerpoint/2010/main" val="308254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C6DA-CA16-2DA0-F378-5D6CA864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boxes&#10;&#10;AI-generated content may be incorrect.">
            <a:extLst>
              <a:ext uri="{FF2B5EF4-FFF2-40B4-BE49-F238E27FC236}">
                <a16:creationId xmlns:a16="http://schemas.microsoft.com/office/drawing/2014/main" id="{43E6EA69-3874-FB40-EACC-5F1D7658A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2676206" cy="1670916"/>
          </a:xfrm>
          <a:prstGeom prst="rect">
            <a:avLst/>
          </a:prstGeom>
        </p:spPr>
      </p:pic>
      <p:pic>
        <p:nvPicPr>
          <p:cNvPr id="5" name="Picture 4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09EEDA3B-9A49-5063-96BE-93E693BA3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11" y="55800"/>
            <a:ext cx="2676206" cy="1621352"/>
          </a:xfrm>
          <a:prstGeom prst="rect">
            <a:avLst/>
          </a:prstGeom>
        </p:spPr>
      </p:pic>
      <p:pic>
        <p:nvPicPr>
          <p:cNvPr id="7" name="Picture 6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795777FC-F10A-677D-3E2E-05C306707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117" y="55800"/>
            <a:ext cx="2723841" cy="1601288"/>
          </a:xfrm>
          <a:prstGeom prst="rect">
            <a:avLst/>
          </a:prstGeom>
        </p:spPr>
      </p:pic>
      <p:pic>
        <p:nvPicPr>
          <p:cNvPr id="10" name="Picture 9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F976DE0D-CC0B-C5D9-5056-A00690D26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" y="1728170"/>
            <a:ext cx="2600303" cy="1581301"/>
          </a:xfrm>
          <a:prstGeom prst="rect">
            <a:avLst/>
          </a:prstGeom>
        </p:spPr>
      </p:pic>
      <p:pic>
        <p:nvPicPr>
          <p:cNvPr id="12" name="Picture 11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A57AB2F1-0285-1488-CF98-330230925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205" y="1590303"/>
            <a:ext cx="2786960" cy="1621352"/>
          </a:xfrm>
          <a:prstGeom prst="rect">
            <a:avLst/>
          </a:prstGeom>
        </p:spPr>
      </p:pic>
      <p:pic>
        <p:nvPicPr>
          <p:cNvPr id="14" name="Picture 13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20A63CC2-91AD-6858-7EC7-673A37B16C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726" y="1553243"/>
            <a:ext cx="2740350" cy="1583254"/>
          </a:xfrm>
          <a:prstGeom prst="rect">
            <a:avLst/>
          </a:prstGeom>
        </p:spPr>
      </p:pic>
      <p:pic>
        <p:nvPicPr>
          <p:cNvPr id="16" name="Picture 15" descr="A graph showing a number of rectangular objects&#10;&#10;AI-generated content may be incorrect.">
            <a:extLst>
              <a:ext uri="{FF2B5EF4-FFF2-40B4-BE49-F238E27FC236}">
                <a16:creationId xmlns:a16="http://schemas.microsoft.com/office/drawing/2014/main" id="{B9B4B298-6219-1F4D-0C84-0B6FFDACE7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" y="3309471"/>
            <a:ext cx="2736063" cy="1598784"/>
          </a:xfrm>
          <a:prstGeom prst="rect">
            <a:avLst/>
          </a:prstGeom>
        </p:spPr>
      </p:pic>
      <p:pic>
        <p:nvPicPr>
          <p:cNvPr id="20" name="Picture 19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A2EDF552-5D12-6152-7BAE-2F64F8D9F0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998" y="3158673"/>
            <a:ext cx="2734119" cy="1634283"/>
          </a:xfrm>
          <a:prstGeom prst="rect">
            <a:avLst/>
          </a:prstGeom>
        </p:spPr>
      </p:pic>
      <p:pic>
        <p:nvPicPr>
          <p:cNvPr id="22" name="Picture 21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27DE7FEE-CE2B-E497-BD8B-7C131858C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220" y="3136498"/>
            <a:ext cx="2655417" cy="1592702"/>
          </a:xfrm>
          <a:prstGeom prst="rect">
            <a:avLst/>
          </a:prstGeom>
        </p:spPr>
      </p:pic>
      <p:pic>
        <p:nvPicPr>
          <p:cNvPr id="24" name="Picture 23" descr="A graph showing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3A4FE4B5-C686-87EC-3A76-61C0E27D81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4" y="4908255"/>
            <a:ext cx="2777160" cy="1634283"/>
          </a:xfrm>
          <a:prstGeom prst="rect">
            <a:avLst/>
          </a:prstGeom>
        </p:spPr>
      </p:pic>
      <p:pic>
        <p:nvPicPr>
          <p:cNvPr id="26" name="Picture 25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42D723A5-BE4A-0811-58EF-D063DDD854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249" y="4982851"/>
            <a:ext cx="2510926" cy="1485090"/>
          </a:xfrm>
          <a:prstGeom prst="rect">
            <a:avLst/>
          </a:prstGeom>
        </p:spPr>
      </p:pic>
      <p:pic>
        <p:nvPicPr>
          <p:cNvPr id="28" name="Picture 27" descr="A diagram of a graph&#10;&#10;AI-generated content may be incorrect.">
            <a:extLst>
              <a:ext uri="{FF2B5EF4-FFF2-40B4-BE49-F238E27FC236}">
                <a16:creationId xmlns:a16="http://schemas.microsoft.com/office/drawing/2014/main" id="{D36163D6-2AE1-3873-A373-370CD46EB3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175" y="4864575"/>
            <a:ext cx="2772783" cy="16779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ADFF7D5-94CB-E9F4-3252-7BB3665BD294}"/>
              </a:ext>
            </a:extLst>
          </p:cNvPr>
          <p:cNvSpPr txBox="1"/>
          <p:nvPr/>
        </p:nvSpPr>
        <p:spPr>
          <a:xfrm>
            <a:off x="8118582" y="924082"/>
            <a:ext cx="39291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November</a:t>
            </a:r>
            <a:r>
              <a:rPr lang="en-US" dirty="0"/>
              <a:t> consistently shows the highest median revenue (the horizontal line inside the box), particularly in 2020.</a:t>
            </a:r>
          </a:p>
          <a:p>
            <a:endParaRPr lang="en-US" dirty="0"/>
          </a:p>
          <a:p>
            <a:r>
              <a:rPr lang="en-US" b="1" dirty="0"/>
              <a:t>August</a:t>
            </a:r>
            <a:r>
              <a:rPr lang="en-US" dirty="0"/>
              <a:t> exhibits the largest range (spread) in revenue (the height of the box), especially in 2021, suggesting high volatility or successful peak performance years.</a:t>
            </a:r>
          </a:p>
          <a:p>
            <a:endParaRPr lang="en-US" dirty="0"/>
          </a:p>
          <a:p>
            <a:r>
              <a:rPr lang="en-US" dirty="0"/>
              <a:t>Most months in 2021 (e.g., </a:t>
            </a:r>
            <a:r>
              <a:rPr lang="en-US" b="1" dirty="0"/>
              <a:t>February, March, August, September, October</a:t>
            </a:r>
            <a:r>
              <a:rPr lang="en-US" dirty="0"/>
              <a:t>) show an increase in median revenue compared to 2019 and 2020.</a:t>
            </a:r>
          </a:p>
        </p:txBody>
      </p:sp>
    </p:spTree>
    <p:extLst>
      <p:ext uri="{BB962C8B-B14F-4D97-AF65-F5344CB8AC3E}">
        <p14:creationId xmlns:p14="http://schemas.microsoft.com/office/powerpoint/2010/main" val="234324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049B627B-A4FA-61CB-9E48-A4864840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19950" cy="2316480"/>
          </a:xfrm>
          <a:prstGeom prst="rect">
            <a:avLst/>
          </a:prstGeom>
        </p:spPr>
      </p:pic>
      <p:pic>
        <p:nvPicPr>
          <p:cNvPr id="7" name="Picture 6" descr="A graph showing a number of colored boxes&#10;&#10;AI-generated content may be incorrect.">
            <a:extLst>
              <a:ext uri="{FF2B5EF4-FFF2-40B4-BE49-F238E27FC236}">
                <a16:creationId xmlns:a16="http://schemas.microsoft.com/office/drawing/2014/main" id="{5B2AB412-88B5-92D8-34CB-D2D794AB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949" y="191928"/>
            <a:ext cx="3584499" cy="2124551"/>
          </a:xfrm>
          <a:prstGeom prst="rect">
            <a:avLst/>
          </a:prstGeom>
        </p:spPr>
      </p:pic>
      <p:pic>
        <p:nvPicPr>
          <p:cNvPr id="9" name="Picture 8" descr="A graph showing a number of squares&#10;&#10;AI-generated content may be incorrect.">
            <a:extLst>
              <a:ext uri="{FF2B5EF4-FFF2-40B4-BE49-F238E27FC236}">
                <a16:creationId xmlns:a16="http://schemas.microsoft.com/office/drawing/2014/main" id="{2F90B964-4C0D-5226-7A33-46C2E03BB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448" y="127636"/>
            <a:ext cx="3719950" cy="2254282"/>
          </a:xfrm>
          <a:prstGeom prst="rect">
            <a:avLst/>
          </a:prstGeom>
        </p:spPr>
      </p:pic>
      <p:pic>
        <p:nvPicPr>
          <p:cNvPr id="13" name="Picture 12" descr="A graph showing a number of boxes&#10;&#10;AI-generated content may be incorrect.">
            <a:extLst>
              <a:ext uri="{FF2B5EF4-FFF2-40B4-BE49-F238E27FC236}">
                <a16:creationId xmlns:a16="http://schemas.microsoft.com/office/drawing/2014/main" id="{96B5A98A-D51D-97DE-C55A-B28BA44EF2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3" y="2370177"/>
            <a:ext cx="3719949" cy="2242685"/>
          </a:xfrm>
          <a:prstGeom prst="rect">
            <a:avLst/>
          </a:prstGeom>
        </p:spPr>
      </p:pic>
      <p:pic>
        <p:nvPicPr>
          <p:cNvPr id="15" name="Picture 14" descr="A graph showing a number of colored squares&#10;&#10;AI-generated content may be incorrect.">
            <a:extLst>
              <a:ext uri="{FF2B5EF4-FFF2-40B4-BE49-F238E27FC236}">
                <a16:creationId xmlns:a16="http://schemas.microsoft.com/office/drawing/2014/main" id="{2C483D0A-B5B4-0529-3BBE-02BBB9DF8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735" y="2343327"/>
            <a:ext cx="3842926" cy="2296383"/>
          </a:xfrm>
          <a:prstGeom prst="rect">
            <a:avLst/>
          </a:prstGeom>
        </p:spPr>
      </p:pic>
      <p:pic>
        <p:nvPicPr>
          <p:cNvPr id="17" name="Picture 16" descr="A graph showing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7BB8BB87-D657-E303-F5F8-7A3A3FD606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" y="4612862"/>
            <a:ext cx="3700181" cy="2156614"/>
          </a:xfrm>
          <a:prstGeom prst="rect">
            <a:avLst/>
          </a:prstGeom>
        </p:spPr>
      </p:pic>
      <p:pic>
        <p:nvPicPr>
          <p:cNvPr id="19" name="Picture 18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01E31ADC-48AE-ECE9-4C69-2C179664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444" y="4538532"/>
            <a:ext cx="3771057" cy="23194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CE67F3-17BC-C3F5-B58D-4D33CD8EC563}"/>
              </a:ext>
            </a:extLst>
          </p:cNvPr>
          <p:cNvSpPr txBox="1"/>
          <p:nvPr/>
        </p:nvSpPr>
        <p:spPr>
          <a:xfrm>
            <a:off x="7451952" y="2490728"/>
            <a:ext cx="42639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Pattern Observed:</a:t>
            </a:r>
          </a:p>
          <a:p>
            <a:endParaRPr lang="en-US" dirty="0"/>
          </a:p>
          <a:p>
            <a:r>
              <a:rPr lang="en-US" b="1" dirty="0"/>
              <a:t>Wednesday</a:t>
            </a:r>
            <a:r>
              <a:rPr lang="en-US" dirty="0"/>
              <a:t> and </a:t>
            </a:r>
            <a:r>
              <a:rPr lang="en-US" b="1" dirty="0"/>
              <a:t>Friday</a:t>
            </a:r>
            <a:r>
              <a:rPr lang="en-US" dirty="0"/>
              <a:t> generally show the highest median revenue and greater revenue variability (longer boxes) across the years.</a:t>
            </a:r>
          </a:p>
          <a:p>
            <a:endParaRPr lang="en-US" dirty="0"/>
          </a:p>
          <a:p>
            <a:r>
              <a:rPr lang="en-US" b="1" dirty="0"/>
              <a:t>Saturdays</a:t>
            </a:r>
            <a:r>
              <a:rPr lang="en-US" dirty="0"/>
              <a:t> and </a:t>
            </a:r>
            <a:r>
              <a:rPr lang="en-US" b="1" dirty="0"/>
              <a:t>Sundays</a:t>
            </a:r>
            <a:r>
              <a:rPr lang="en-US" dirty="0"/>
              <a:t> (especially 2022) tend to have the lowest median revenue, indicating weaker sales performance on the weekends.</a:t>
            </a:r>
          </a:p>
        </p:txBody>
      </p:sp>
    </p:spTree>
    <p:extLst>
      <p:ext uri="{BB962C8B-B14F-4D97-AF65-F5344CB8AC3E}">
        <p14:creationId xmlns:p14="http://schemas.microsoft.com/office/powerpoint/2010/main" val="300681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drinking from a large glass&#10;&#10;AI-generated content may be incorrect.">
            <a:extLst>
              <a:ext uri="{FF2B5EF4-FFF2-40B4-BE49-F238E27FC236}">
                <a16:creationId xmlns:a16="http://schemas.microsoft.com/office/drawing/2014/main" id="{8CB7C406-0968-FC54-8B68-4EA196069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" y="96301"/>
            <a:ext cx="11855450" cy="6665397"/>
          </a:xfrm>
        </p:spPr>
      </p:pic>
    </p:spTree>
    <p:extLst>
      <p:ext uri="{BB962C8B-B14F-4D97-AF65-F5344CB8AC3E}">
        <p14:creationId xmlns:p14="http://schemas.microsoft.com/office/powerpoint/2010/main" val="52264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422</Words>
  <Application>Microsoft Office PowerPoint</Application>
  <PresentationFormat>Widescreen</PresentationFormat>
  <Paragraphs>49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Coffee Beans Sales Analysis</vt:lpstr>
      <vt:lpstr>PowerPoint Presentation</vt:lpstr>
      <vt:lpstr>Country-Product Preference Correlation by Revenue</vt:lpstr>
      <vt:lpstr>PowerPoint Presentation</vt:lpstr>
      <vt:lpstr>PowerPoint Presentation</vt:lpstr>
      <vt:lpstr>Total Customers, Revenue &amp; Sales Volume Summary per Coffee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Gabriel</dc:creator>
  <cp:lastModifiedBy>Andreas Gabriel</cp:lastModifiedBy>
  <cp:revision>4</cp:revision>
  <dcterms:created xsi:type="dcterms:W3CDTF">2025-12-06T09:45:10Z</dcterms:created>
  <dcterms:modified xsi:type="dcterms:W3CDTF">2025-12-06T14:45:34Z</dcterms:modified>
</cp:coreProperties>
</file>